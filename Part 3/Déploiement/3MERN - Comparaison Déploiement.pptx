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6" r:id="rId9"/>
    <p:sldId id="267" r:id="rId1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4B96AC-D86C-483C-86CB-27795EFB577C}" v="5" dt="2021-03-24T14:57:14.6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816"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795923549b_2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795923549b_2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795923549b_2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795923549b_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795923549b_2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795923549b_2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795923549b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795923549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795923549b_3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795923549b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795923549b_3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795923549b_3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795923549b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795923549b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795923549b_5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795923549b_5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aws.amazon.com/fr/free/"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744575"/>
            <a:ext cx="8520600" cy="18534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 dirty="0"/>
              <a:t>Solutions de déploiement</a:t>
            </a:r>
            <a:br>
              <a:rPr lang="fr" dirty="0"/>
            </a:br>
            <a:r>
              <a:rPr lang="fr" dirty="0"/>
              <a:t>React-Express-Mongodb </a:t>
            </a:r>
            <a:endParaRPr dirty="0"/>
          </a:p>
        </p:txBody>
      </p:sp>
      <p:sp>
        <p:nvSpPr>
          <p:cNvPr id="55" name="Google Shape;55;p13"/>
          <p:cNvSpPr txBox="1">
            <a:spLocks noGrp="1"/>
          </p:cNvSpPr>
          <p:nvPr>
            <p:ph type="subTitle" idx="1"/>
          </p:nvPr>
        </p:nvSpPr>
        <p:spPr>
          <a:xfrm>
            <a:off x="311700" y="2597975"/>
            <a:ext cx="8520600" cy="2288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fr" dirty="0"/>
              <a:t>Comparaison</a:t>
            </a:r>
            <a:endParaRPr dirty="0"/>
          </a:p>
          <a:p>
            <a:pPr marL="0" lvl="0" indent="0" algn="ctr" rtl="0">
              <a:spcBef>
                <a:spcPts val="0"/>
              </a:spcBef>
              <a:spcAft>
                <a:spcPts val="0"/>
              </a:spcAft>
              <a:buNone/>
            </a:pPr>
            <a:endParaRPr lang="fr-FR" dirty="0"/>
          </a:p>
          <a:p>
            <a:pPr marL="0" lvl="0" indent="0" algn="ctr" rtl="0">
              <a:spcBef>
                <a:spcPts val="0"/>
              </a:spcBef>
              <a:spcAft>
                <a:spcPts val="0"/>
              </a:spcAft>
              <a:buNone/>
            </a:pPr>
            <a:endParaRPr lang="fr-FR" dirty="0"/>
          </a:p>
          <a:p>
            <a:pPr marL="0" lvl="0" indent="0" algn="ctr" rtl="0">
              <a:spcBef>
                <a:spcPts val="0"/>
              </a:spcBef>
              <a:spcAft>
                <a:spcPts val="0"/>
              </a:spcAft>
              <a:buNone/>
            </a:pPr>
            <a:endParaRPr dirty="0"/>
          </a:p>
        </p:txBody>
      </p:sp>
      <p:sp>
        <p:nvSpPr>
          <p:cNvPr id="2" name="ZoneTexte 1">
            <a:extLst>
              <a:ext uri="{FF2B5EF4-FFF2-40B4-BE49-F238E27FC236}">
                <a16:creationId xmlns:a16="http://schemas.microsoft.com/office/drawing/2014/main" id="{1F0087F1-2C18-4A48-AF57-2015A73C7453}"/>
              </a:ext>
            </a:extLst>
          </p:cNvPr>
          <p:cNvSpPr txBox="1"/>
          <p:nvPr/>
        </p:nvSpPr>
        <p:spPr>
          <a:xfrm>
            <a:off x="311700" y="3587262"/>
            <a:ext cx="2903773" cy="738664"/>
          </a:xfrm>
          <a:prstGeom prst="rect">
            <a:avLst/>
          </a:prstGeom>
          <a:noFill/>
        </p:spPr>
        <p:txBody>
          <a:bodyPr wrap="square" rtlCol="0">
            <a:spAutoFit/>
          </a:bodyPr>
          <a:lstStyle/>
          <a:p>
            <a:pPr algn="l" fontAlgn="base"/>
            <a:r>
              <a:rPr lang="fr-FR" b="0" i="0" dirty="0">
                <a:solidFill>
                  <a:srgbClr val="323130"/>
                </a:solidFill>
                <a:effectLst/>
                <a:latin typeface="Segoe UI" panose="020B0502040204020203" pitchFamily="34" charset="0"/>
              </a:rPr>
              <a:t>Maxime Verhaeghe</a:t>
            </a:r>
          </a:p>
          <a:p>
            <a:br>
              <a:rPr lang="fr-FR"/>
            </a:br>
            <a:r>
              <a:rPr lang="fr-FR"/>
              <a:t>Lamine Amimi</a:t>
            </a:r>
            <a:endParaRPr lang="fr-F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fr" dirty="0"/>
              <a:t>Azure</a:t>
            </a:r>
            <a:endParaRPr dirty="0"/>
          </a:p>
        </p:txBody>
      </p:sp>
      <p:sp>
        <p:nvSpPr>
          <p:cNvPr id="62" name="Google Shape;62;p14"/>
          <p:cNvSpPr txBox="1">
            <a:spLocks noGrp="1"/>
          </p:cNvSpPr>
          <p:nvPr>
            <p:ph type="body" idx="1"/>
          </p:nvPr>
        </p:nvSpPr>
        <p:spPr>
          <a:xfrm>
            <a:off x="311700" y="1152475"/>
            <a:ext cx="5037600" cy="3416400"/>
          </a:xfrm>
          <a:prstGeom prst="rect">
            <a:avLst/>
          </a:prstGeom>
          <a:effectLst>
            <a:reflection dist="38100" dir="5400000" fadeDir="5400012" sy="-100000" algn="bl" rotWithShape="0"/>
          </a:effectLst>
        </p:spPr>
        <p:txBody>
          <a:bodyPr spcFirstLastPara="1" wrap="square" lIns="91425" tIns="91425" rIns="91425" bIns="91425" anchor="ctr" anchorCtr="0">
            <a:normAutofit/>
          </a:bodyPr>
          <a:lstStyle/>
          <a:p>
            <a:pPr marL="0" lvl="0" indent="0" algn="just" rtl="0">
              <a:spcBef>
                <a:spcPts val="0"/>
              </a:spcBef>
              <a:spcAft>
                <a:spcPts val="0"/>
              </a:spcAft>
              <a:buClr>
                <a:schemeClr val="dk1"/>
              </a:buClr>
              <a:buSzPts val="1100"/>
              <a:buFont typeface="Arial"/>
              <a:buNone/>
            </a:pPr>
            <a:r>
              <a:rPr lang="fr" sz="1300" dirty="0"/>
              <a:t>Microsoft Azure est la plate-forme applicative cloud de Microsoft.</a:t>
            </a:r>
            <a:endParaRPr sz="1300" dirty="0"/>
          </a:p>
          <a:p>
            <a:pPr marL="0" lvl="0" indent="0" algn="just" rtl="0">
              <a:spcBef>
                <a:spcPts val="1200"/>
              </a:spcBef>
              <a:spcAft>
                <a:spcPts val="0"/>
              </a:spcAft>
              <a:buClr>
                <a:schemeClr val="dk1"/>
              </a:buClr>
              <a:buSzPts val="1100"/>
              <a:buFont typeface="Arial"/>
              <a:buNone/>
            </a:pPr>
            <a:r>
              <a:rPr lang="fr" sz="1300" dirty="0"/>
              <a:t>La plateforme cloud Azure compte plus de 200 produits et services cloud conçus pour aider à donner vie à de nouvelles solutions, afin de relever les défis actuels et de créer l’avenir.</a:t>
            </a:r>
            <a:endParaRPr sz="1300" dirty="0"/>
          </a:p>
          <a:p>
            <a:pPr marL="0" lvl="0" indent="0" algn="just" rtl="0">
              <a:spcBef>
                <a:spcPts val="1200"/>
              </a:spcBef>
              <a:spcAft>
                <a:spcPts val="1200"/>
              </a:spcAft>
              <a:buClr>
                <a:schemeClr val="dk1"/>
              </a:buClr>
              <a:buSzPts val="1100"/>
              <a:buFont typeface="Arial"/>
              <a:buNone/>
            </a:pPr>
            <a:r>
              <a:rPr lang="fr" sz="1300" dirty="0"/>
              <a:t>Créez, exécutez et gérez des applications sur plusieurs clouds, localement et à la périphérie, avec les outils et infrastructures de votre choix.</a:t>
            </a:r>
            <a:endParaRPr sz="1300" dirty="0"/>
          </a:p>
        </p:txBody>
      </p:sp>
      <p:pic>
        <p:nvPicPr>
          <p:cNvPr id="63" name="Google Shape;63;p14"/>
          <p:cNvPicPr preferRelativeResize="0"/>
          <p:nvPr/>
        </p:nvPicPr>
        <p:blipFill>
          <a:blip r:embed="rId3">
            <a:alphaModFix/>
          </a:blip>
          <a:stretch>
            <a:fillRect/>
          </a:stretch>
        </p:blipFill>
        <p:spPr>
          <a:xfrm>
            <a:off x="6212050" y="1875400"/>
            <a:ext cx="1970525" cy="19705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t>Azure</a:t>
            </a:r>
            <a:endParaRPr/>
          </a:p>
        </p:txBody>
      </p:sp>
      <p:sp>
        <p:nvSpPr>
          <p:cNvPr id="69" name="Google Shape;69;p15"/>
          <p:cNvSpPr txBox="1">
            <a:spLocks noGrp="1"/>
          </p:cNvSpPr>
          <p:nvPr>
            <p:ph type="body" idx="1"/>
          </p:nvPr>
        </p:nvSpPr>
        <p:spPr>
          <a:xfrm>
            <a:off x="311700" y="1152475"/>
            <a:ext cx="5037600" cy="3416400"/>
          </a:xfrm>
          <a:prstGeom prst="rect">
            <a:avLst/>
          </a:prstGeom>
        </p:spPr>
        <p:txBody>
          <a:bodyPr spcFirstLastPara="1" wrap="square" lIns="91425" tIns="91425" rIns="91425" bIns="91425" anchor="ctr" anchorCtr="0">
            <a:normAutofit/>
          </a:bodyPr>
          <a:lstStyle/>
          <a:p>
            <a:pPr marL="457200" lvl="0" indent="-311150" algn="just" rtl="0">
              <a:lnSpc>
                <a:spcPct val="100000"/>
              </a:lnSpc>
              <a:spcBef>
                <a:spcPts val="0"/>
              </a:spcBef>
              <a:spcAft>
                <a:spcPts val="0"/>
              </a:spcAft>
              <a:buSzPts val="1300"/>
              <a:buChar char="●"/>
            </a:pPr>
            <a:r>
              <a:rPr lang="fr" sz="1300"/>
              <a:t>Déploiement rapide → le déploiement se fait rapidement et simplement</a:t>
            </a:r>
            <a:endParaRPr sz="1300"/>
          </a:p>
          <a:p>
            <a:pPr marL="457200" lvl="0" indent="-311150" algn="just" rtl="0">
              <a:lnSpc>
                <a:spcPct val="100000"/>
              </a:lnSpc>
              <a:spcBef>
                <a:spcPts val="1000"/>
              </a:spcBef>
              <a:spcAft>
                <a:spcPts val="0"/>
              </a:spcAft>
              <a:buSzPts val="1300"/>
              <a:buChar char="●"/>
            </a:pPr>
            <a:r>
              <a:rPr lang="fr" sz="1300"/>
              <a:t>Monitoring simple depuis l’interface → De nombreux outils sont mis à disposition afin de gérer ses projets</a:t>
            </a:r>
            <a:endParaRPr sz="1300"/>
          </a:p>
          <a:p>
            <a:pPr marL="457200" lvl="0" indent="-311150" algn="just" rtl="0">
              <a:lnSpc>
                <a:spcPct val="100000"/>
              </a:lnSpc>
              <a:spcBef>
                <a:spcPts val="1000"/>
              </a:spcBef>
              <a:spcAft>
                <a:spcPts val="0"/>
              </a:spcAft>
              <a:buSzPts val="1300"/>
              <a:buChar char="●"/>
            </a:pPr>
            <a:r>
              <a:rPr lang="fr" sz="1300"/>
              <a:t>Rapport coût-efficacité → exemple : AWS coûte 5 fois plus cher qu’Azure pour Windows Server et SQL Server.</a:t>
            </a:r>
            <a:endParaRPr sz="1300"/>
          </a:p>
          <a:p>
            <a:pPr marL="457200" lvl="0" indent="-311150" algn="just" rtl="0">
              <a:lnSpc>
                <a:spcPct val="100000"/>
              </a:lnSpc>
              <a:spcBef>
                <a:spcPts val="1000"/>
              </a:spcBef>
              <a:spcAft>
                <a:spcPts val="0"/>
              </a:spcAft>
              <a:buSzPts val="1300"/>
              <a:buChar char="●"/>
            </a:pPr>
            <a:r>
              <a:rPr lang="fr" sz="1300"/>
              <a:t>Sécurité → La sécurité est assurée par une équipe d’experts, et d’une conformité proactive.</a:t>
            </a:r>
            <a:endParaRPr sz="1300"/>
          </a:p>
          <a:p>
            <a:pPr marL="457200" lvl="0" indent="-311150" algn="just" rtl="0">
              <a:lnSpc>
                <a:spcPct val="100000"/>
              </a:lnSpc>
              <a:spcBef>
                <a:spcPts val="1000"/>
              </a:spcBef>
              <a:spcAft>
                <a:spcPts val="1000"/>
              </a:spcAft>
              <a:buSzPts val="1300"/>
              <a:buChar char="●"/>
            </a:pPr>
            <a:r>
              <a:rPr lang="fr" sz="1300"/>
              <a:t>Haute disponibilité → Haute disponibilité intégrée. Ces liens redondants, l’alimentation et les centres de données sont inclus dans Azure, ce qui permet d’économiser du temps.</a:t>
            </a:r>
            <a:endParaRPr sz="1300"/>
          </a:p>
        </p:txBody>
      </p:sp>
      <p:pic>
        <p:nvPicPr>
          <p:cNvPr id="70" name="Google Shape;70;p15"/>
          <p:cNvPicPr preferRelativeResize="0"/>
          <p:nvPr/>
        </p:nvPicPr>
        <p:blipFill>
          <a:blip r:embed="rId3">
            <a:alphaModFix/>
          </a:blip>
          <a:stretch>
            <a:fillRect/>
          </a:stretch>
        </p:blipFill>
        <p:spPr>
          <a:xfrm>
            <a:off x="6212050" y="1875400"/>
            <a:ext cx="1970525" cy="1970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t>Azure</a:t>
            </a:r>
            <a:endParaRPr/>
          </a:p>
        </p:txBody>
      </p:sp>
      <p:sp>
        <p:nvSpPr>
          <p:cNvPr id="76" name="Google Shape;76;p16"/>
          <p:cNvSpPr txBox="1">
            <a:spLocks noGrp="1"/>
          </p:cNvSpPr>
          <p:nvPr>
            <p:ph type="body" idx="1"/>
          </p:nvPr>
        </p:nvSpPr>
        <p:spPr>
          <a:xfrm>
            <a:off x="311700" y="1152475"/>
            <a:ext cx="5037600" cy="3416400"/>
          </a:xfrm>
          <a:prstGeom prst="rect">
            <a:avLst/>
          </a:prstGeom>
        </p:spPr>
        <p:txBody>
          <a:bodyPr spcFirstLastPara="1" wrap="square" lIns="91425" tIns="91425" rIns="91425" bIns="91425" anchor="ctr" anchorCtr="0">
            <a:normAutofit/>
          </a:bodyPr>
          <a:lstStyle/>
          <a:p>
            <a:pPr marL="457200" lvl="0" indent="-311150" algn="just" rtl="0">
              <a:lnSpc>
                <a:spcPct val="100000"/>
              </a:lnSpc>
              <a:spcBef>
                <a:spcPts val="0"/>
              </a:spcBef>
              <a:spcAft>
                <a:spcPts val="0"/>
              </a:spcAft>
              <a:buSzPts val="1300"/>
              <a:buChar char="●"/>
            </a:pPr>
            <a:r>
              <a:rPr lang="fr" sz="1300"/>
              <a:t>Nécessite l’expertise d'une plate-forme → Azure est différent des serveurs locaux et nécessite une expertise pour s'assurer que toutes les pièces mobiles fonctionnent aussi efficacement que possible. Même une erreur courante commise par un administrateur informatique d'une entreprise peut créer des problèmes.</a:t>
            </a:r>
            <a:endParaRPr sz="1300"/>
          </a:p>
        </p:txBody>
      </p:sp>
      <p:pic>
        <p:nvPicPr>
          <p:cNvPr id="77" name="Google Shape;77;p16"/>
          <p:cNvPicPr preferRelativeResize="0"/>
          <p:nvPr/>
        </p:nvPicPr>
        <p:blipFill>
          <a:blip r:embed="rId3">
            <a:alphaModFix/>
          </a:blip>
          <a:stretch>
            <a:fillRect/>
          </a:stretch>
        </p:blipFill>
        <p:spPr>
          <a:xfrm>
            <a:off x="6212050" y="1875400"/>
            <a:ext cx="1970525" cy="1970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t>Docker</a:t>
            </a:r>
            <a:endParaRPr/>
          </a:p>
        </p:txBody>
      </p:sp>
      <p:sp>
        <p:nvSpPr>
          <p:cNvPr id="83" name="Google Shape;83;p17"/>
          <p:cNvSpPr txBox="1">
            <a:spLocks noGrp="1"/>
          </p:cNvSpPr>
          <p:nvPr>
            <p:ph type="body" idx="1"/>
          </p:nvPr>
        </p:nvSpPr>
        <p:spPr>
          <a:xfrm>
            <a:off x="311700" y="1152475"/>
            <a:ext cx="5037600" cy="3416400"/>
          </a:xfrm>
          <a:prstGeom prst="rect">
            <a:avLst/>
          </a:prstGeom>
        </p:spPr>
        <p:txBody>
          <a:bodyPr spcFirstLastPara="1" wrap="square" lIns="91425" tIns="91425" rIns="91425" bIns="91425" anchor="ctr" anchorCtr="0">
            <a:normAutofit/>
          </a:bodyPr>
          <a:lstStyle/>
          <a:p>
            <a:pPr marL="0" lvl="0" indent="0" algn="just" rtl="0">
              <a:lnSpc>
                <a:spcPct val="85000"/>
              </a:lnSpc>
              <a:spcBef>
                <a:spcPts val="0"/>
              </a:spcBef>
              <a:spcAft>
                <a:spcPts val="0"/>
              </a:spcAft>
              <a:buNone/>
            </a:pPr>
            <a:r>
              <a:rPr lang="fr" sz="1300"/>
              <a:t>Docker est une technologie de virtualisation qui permet de créer, déployer et démarrer des applications facilement en utilisant des conteneurs de logiciels ou services.</a:t>
            </a:r>
            <a:endParaRPr sz="1300"/>
          </a:p>
          <a:p>
            <a:pPr marL="0" lvl="0" indent="0" algn="just" rtl="0">
              <a:lnSpc>
                <a:spcPct val="85000"/>
              </a:lnSpc>
              <a:spcBef>
                <a:spcPts val="1200"/>
              </a:spcBef>
              <a:spcAft>
                <a:spcPts val="0"/>
              </a:spcAft>
              <a:buNone/>
            </a:pPr>
            <a:r>
              <a:rPr lang="fr" sz="1300"/>
              <a:t>Un conteneur est le regroupement d’un logiciel et toutes ses dépendances (librairies, code source, fichiers de configuration…) empaquetés au même endroit. </a:t>
            </a:r>
            <a:endParaRPr sz="1300"/>
          </a:p>
          <a:p>
            <a:pPr marL="0" lvl="0" indent="0" algn="just" rtl="0">
              <a:lnSpc>
                <a:spcPct val="85000"/>
              </a:lnSpc>
              <a:spcBef>
                <a:spcPts val="0"/>
              </a:spcBef>
              <a:spcAft>
                <a:spcPts val="0"/>
              </a:spcAft>
              <a:buNone/>
            </a:pPr>
            <a:r>
              <a:rPr lang="fr" sz="1300"/>
              <a:t>Ce qui permet d’assurer le fonctionnement stable et rapide de l’application quelque soit les environnements d’exécutions dans lesquels elle est lancée.</a:t>
            </a:r>
            <a:endParaRPr sz="1300"/>
          </a:p>
          <a:p>
            <a:pPr marL="0" lvl="0" indent="0" algn="just" rtl="0">
              <a:lnSpc>
                <a:spcPct val="85000"/>
              </a:lnSpc>
              <a:spcBef>
                <a:spcPts val="1000"/>
              </a:spcBef>
              <a:spcAft>
                <a:spcPts val="0"/>
              </a:spcAft>
              <a:buNone/>
            </a:pPr>
            <a:r>
              <a:rPr lang="fr" sz="1300"/>
              <a:t>Les conteneurs permettent aux développeurs de réunir une application et toutes ses dépendances dans un seul package.</a:t>
            </a:r>
            <a:endParaRPr sz="1300"/>
          </a:p>
          <a:p>
            <a:pPr marL="0" lvl="0" indent="0" algn="just" rtl="0">
              <a:lnSpc>
                <a:spcPct val="85000"/>
              </a:lnSpc>
              <a:spcBef>
                <a:spcPts val="0"/>
              </a:spcBef>
              <a:spcAft>
                <a:spcPts val="0"/>
              </a:spcAft>
              <a:buNone/>
            </a:pPr>
            <a:r>
              <a:rPr lang="fr" sz="1300"/>
              <a:t>Pour ce faire, chaque conteneur peut contenir plusieurs conteneurs. </a:t>
            </a:r>
            <a:endParaRPr sz="1300"/>
          </a:p>
          <a:p>
            <a:pPr marL="0" lvl="0" indent="0" algn="just" rtl="0">
              <a:lnSpc>
                <a:spcPct val="85000"/>
              </a:lnSpc>
              <a:spcBef>
                <a:spcPts val="0"/>
              </a:spcBef>
              <a:spcAft>
                <a:spcPts val="0"/>
              </a:spcAft>
              <a:buNone/>
            </a:pPr>
            <a:r>
              <a:rPr lang="fr" sz="1300"/>
              <a:t>Enfin, les services fournis par chaque conteneurs sont accessibles via le réseau.</a:t>
            </a:r>
            <a:endParaRPr sz="1300"/>
          </a:p>
        </p:txBody>
      </p:sp>
      <p:pic>
        <p:nvPicPr>
          <p:cNvPr id="84" name="Google Shape;84;p17"/>
          <p:cNvPicPr preferRelativeResize="0"/>
          <p:nvPr/>
        </p:nvPicPr>
        <p:blipFill>
          <a:blip r:embed="rId3">
            <a:alphaModFix/>
          </a:blip>
          <a:stretch>
            <a:fillRect/>
          </a:stretch>
        </p:blipFill>
        <p:spPr>
          <a:xfrm>
            <a:off x="6018300" y="1548450"/>
            <a:ext cx="2624451" cy="26244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t>Docker - Avantages</a:t>
            </a:r>
            <a:endParaRPr/>
          </a:p>
        </p:txBody>
      </p:sp>
      <p:pic>
        <p:nvPicPr>
          <p:cNvPr id="90" name="Google Shape;90;p18"/>
          <p:cNvPicPr preferRelativeResize="0"/>
          <p:nvPr/>
        </p:nvPicPr>
        <p:blipFill>
          <a:blip r:embed="rId3">
            <a:alphaModFix/>
          </a:blip>
          <a:stretch>
            <a:fillRect/>
          </a:stretch>
        </p:blipFill>
        <p:spPr>
          <a:xfrm>
            <a:off x="6018300" y="1548450"/>
            <a:ext cx="2624451" cy="2624451"/>
          </a:xfrm>
          <a:prstGeom prst="rect">
            <a:avLst/>
          </a:prstGeom>
          <a:noFill/>
          <a:ln>
            <a:noFill/>
          </a:ln>
        </p:spPr>
      </p:pic>
      <p:sp>
        <p:nvSpPr>
          <p:cNvPr id="91" name="Google Shape;91;p18"/>
          <p:cNvSpPr txBox="1">
            <a:spLocks noGrp="1"/>
          </p:cNvSpPr>
          <p:nvPr>
            <p:ph type="body" idx="1"/>
          </p:nvPr>
        </p:nvSpPr>
        <p:spPr>
          <a:xfrm>
            <a:off x="311700" y="1152475"/>
            <a:ext cx="5037600" cy="3416400"/>
          </a:xfrm>
          <a:prstGeom prst="rect">
            <a:avLst/>
          </a:prstGeom>
        </p:spPr>
        <p:txBody>
          <a:bodyPr spcFirstLastPara="1" wrap="square" lIns="91425" tIns="91425" rIns="91425" bIns="91425" anchor="ctr" anchorCtr="0">
            <a:normAutofit fontScale="92500" lnSpcReduction="20000"/>
          </a:bodyPr>
          <a:lstStyle/>
          <a:p>
            <a:pPr marL="314999" lvl="0" indent="-312216" algn="just" rtl="0">
              <a:lnSpc>
                <a:spcPct val="95000"/>
              </a:lnSpc>
              <a:spcBef>
                <a:spcPts val="0"/>
              </a:spcBef>
              <a:spcAft>
                <a:spcPts val="0"/>
              </a:spcAft>
              <a:buSzPct val="100000"/>
              <a:buChar char="●"/>
            </a:pPr>
            <a:r>
              <a:rPr lang="fr" sz="1423"/>
              <a:t>Flexibilité → Toute application peut être transformée en conteneur</a:t>
            </a:r>
            <a:endParaRPr sz="1423"/>
          </a:p>
          <a:p>
            <a:pPr marL="314999" lvl="0" indent="-228600" algn="just" rtl="0">
              <a:lnSpc>
                <a:spcPct val="95000"/>
              </a:lnSpc>
              <a:spcBef>
                <a:spcPts val="0"/>
              </a:spcBef>
              <a:spcAft>
                <a:spcPts val="0"/>
              </a:spcAft>
              <a:buNone/>
            </a:pPr>
            <a:endParaRPr sz="1423"/>
          </a:p>
          <a:p>
            <a:pPr marL="314999" lvl="0" indent="-312216" algn="just" rtl="0">
              <a:lnSpc>
                <a:spcPct val="95000"/>
              </a:lnSpc>
              <a:spcBef>
                <a:spcPts val="0"/>
              </a:spcBef>
              <a:spcAft>
                <a:spcPts val="0"/>
              </a:spcAft>
              <a:buSzPct val="100000"/>
              <a:buChar char="●"/>
            </a:pPr>
            <a:r>
              <a:rPr lang="fr" sz="1423"/>
              <a:t>Légèreté → Docker exploite et partage le kernel du système d’exploitation de l’hôte, ce qui le rend très efficace en terme d’utilisation des ressources du système</a:t>
            </a:r>
            <a:endParaRPr sz="1423"/>
          </a:p>
          <a:p>
            <a:pPr marL="314999" lvl="0" indent="-228600" algn="just" rtl="0">
              <a:lnSpc>
                <a:spcPct val="95000"/>
              </a:lnSpc>
              <a:spcBef>
                <a:spcPts val="0"/>
              </a:spcBef>
              <a:spcAft>
                <a:spcPts val="0"/>
              </a:spcAft>
              <a:buNone/>
            </a:pPr>
            <a:endParaRPr sz="1423"/>
          </a:p>
          <a:p>
            <a:pPr marL="314999" lvl="0" indent="-312216" algn="just" rtl="0">
              <a:lnSpc>
                <a:spcPct val="95000"/>
              </a:lnSpc>
              <a:spcBef>
                <a:spcPts val="0"/>
              </a:spcBef>
              <a:spcAft>
                <a:spcPts val="0"/>
              </a:spcAft>
              <a:buSzPct val="100000"/>
              <a:buChar char="●"/>
            </a:pPr>
            <a:r>
              <a:rPr lang="fr" sz="1423"/>
              <a:t>Portabilité → Il est possible de créer, déployer et démarrer des conteneurs sur son ordinateur, celui de ses clients ou un serveur distant</a:t>
            </a:r>
            <a:endParaRPr sz="1423"/>
          </a:p>
          <a:p>
            <a:pPr marL="314999" lvl="0" indent="-228600" algn="just" rtl="0">
              <a:lnSpc>
                <a:spcPct val="95000"/>
              </a:lnSpc>
              <a:spcBef>
                <a:spcPts val="0"/>
              </a:spcBef>
              <a:spcAft>
                <a:spcPts val="0"/>
              </a:spcAft>
              <a:buNone/>
            </a:pPr>
            <a:endParaRPr sz="1423"/>
          </a:p>
          <a:p>
            <a:pPr marL="314999" lvl="0" indent="-312216" algn="just" rtl="0">
              <a:lnSpc>
                <a:spcPct val="95000"/>
              </a:lnSpc>
              <a:spcBef>
                <a:spcPts val="0"/>
              </a:spcBef>
              <a:spcAft>
                <a:spcPts val="0"/>
              </a:spcAft>
              <a:buSzPct val="100000"/>
              <a:buChar char="●"/>
            </a:pPr>
            <a:r>
              <a:rPr lang="fr" sz="1423"/>
              <a:t>Autosuffisance → L’installation et la désinstallation de conteneurs sont indépendants des autres conteneurs. Ce qui permet de mettre à jour ou remplacer un conteneur sans modifier les autres</a:t>
            </a:r>
            <a:endParaRPr sz="1423"/>
          </a:p>
          <a:p>
            <a:pPr marL="314999" lvl="0" indent="-228600" algn="just" rtl="0">
              <a:lnSpc>
                <a:spcPct val="95000"/>
              </a:lnSpc>
              <a:spcBef>
                <a:spcPts val="0"/>
              </a:spcBef>
              <a:spcAft>
                <a:spcPts val="0"/>
              </a:spcAft>
              <a:buNone/>
            </a:pPr>
            <a:endParaRPr sz="1423"/>
          </a:p>
          <a:p>
            <a:pPr marL="314999" lvl="0" indent="-312216" algn="just" rtl="0">
              <a:lnSpc>
                <a:spcPct val="95000"/>
              </a:lnSpc>
              <a:spcBef>
                <a:spcPts val="0"/>
              </a:spcBef>
              <a:spcAft>
                <a:spcPts val="0"/>
              </a:spcAft>
              <a:buSzPct val="100000"/>
              <a:buChar char="●"/>
            </a:pPr>
            <a:r>
              <a:rPr lang="fr" sz="1423"/>
              <a:t>Scalabilité → Dupliquer un conteneur est très simple, ce qui permet de réaliser facilement de la scalabilité horizontale (rajouter en parallèle des machines identiques supplémentaires) </a:t>
            </a:r>
            <a:endParaRPr sz="203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t>Docker - Inconvénients</a:t>
            </a:r>
            <a:endParaRPr/>
          </a:p>
        </p:txBody>
      </p:sp>
      <p:pic>
        <p:nvPicPr>
          <p:cNvPr id="97" name="Google Shape;97;p19"/>
          <p:cNvPicPr preferRelativeResize="0"/>
          <p:nvPr/>
        </p:nvPicPr>
        <p:blipFill>
          <a:blip r:embed="rId3">
            <a:alphaModFix/>
          </a:blip>
          <a:stretch>
            <a:fillRect/>
          </a:stretch>
        </p:blipFill>
        <p:spPr>
          <a:xfrm>
            <a:off x="6018300" y="1548450"/>
            <a:ext cx="2624451" cy="2624451"/>
          </a:xfrm>
          <a:prstGeom prst="rect">
            <a:avLst/>
          </a:prstGeom>
          <a:noFill/>
          <a:ln>
            <a:noFill/>
          </a:ln>
        </p:spPr>
      </p:pic>
      <p:sp>
        <p:nvSpPr>
          <p:cNvPr id="98" name="Google Shape;98;p19"/>
          <p:cNvSpPr txBox="1">
            <a:spLocks noGrp="1"/>
          </p:cNvSpPr>
          <p:nvPr>
            <p:ph type="body" idx="1"/>
          </p:nvPr>
        </p:nvSpPr>
        <p:spPr>
          <a:xfrm>
            <a:off x="311700" y="1152475"/>
            <a:ext cx="5037600" cy="3416400"/>
          </a:xfrm>
          <a:prstGeom prst="rect">
            <a:avLst/>
          </a:prstGeom>
        </p:spPr>
        <p:txBody>
          <a:bodyPr spcFirstLastPara="1" wrap="square" lIns="91425" tIns="91425" rIns="91425" bIns="91425" anchor="ctr" anchorCtr="0">
            <a:normAutofit/>
          </a:bodyPr>
          <a:lstStyle/>
          <a:p>
            <a:pPr marL="314999" lvl="0" indent="-300037" algn="just" rtl="0">
              <a:lnSpc>
                <a:spcPct val="95000"/>
              </a:lnSpc>
              <a:spcBef>
                <a:spcPts val="0"/>
              </a:spcBef>
              <a:spcAft>
                <a:spcPts val="0"/>
              </a:spcAft>
              <a:buSzPts val="1125"/>
              <a:buChar char="●"/>
            </a:pPr>
            <a:r>
              <a:rPr lang="fr" sz="1323"/>
              <a:t>Difficulté de gérer de façon efficiente un grand nombre de containers simultanément</a:t>
            </a:r>
            <a:endParaRPr sz="1323"/>
          </a:p>
          <a:p>
            <a:pPr marL="457200" lvl="0" indent="0" algn="just" rtl="0">
              <a:lnSpc>
                <a:spcPct val="95000"/>
              </a:lnSpc>
              <a:spcBef>
                <a:spcPts val="0"/>
              </a:spcBef>
              <a:spcAft>
                <a:spcPts val="0"/>
              </a:spcAft>
              <a:buNone/>
            </a:pPr>
            <a:endParaRPr sz="1323"/>
          </a:p>
          <a:p>
            <a:pPr marL="314999" lvl="0" indent="-312646" algn="just" rtl="0">
              <a:lnSpc>
                <a:spcPct val="95000"/>
              </a:lnSpc>
              <a:spcBef>
                <a:spcPts val="0"/>
              </a:spcBef>
              <a:spcAft>
                <a:spcPts val="0"/>
              </a:spcAft>
              <a:buSzPts val="1324"/>
              <a:buChar char="●"/>
            </a:pPr>
            <a:r>
              <a:rPr lang="fr" sz="1323"/>
              <a:t>Difficulté pour définir une sécurité poussée entre les différents environnements Docker d’un même serveur physique</a:t>
            </a:r>
            <a:endParaRPr sz="1323"/>
          </a:p>
          <a:p>
            <a:pPr marL="457200" lvl="0" indent="0" algn="just" rtl="0">
              <a:lnSpc>
                <a:spcPct val="95000"/>
              </a:lnSpc>
              <a:spcBef>
                <a:spcPts val="0"/>
              </a:spcBef>
              <a:spcAft>
                <a:spcPts val="0"/>
              </a:spcAft>
              <a:buNone/>
            </a:pPr>
            <a:endParaRPr sz="1323"/>
          </a:p>
          <a:p>
            <a:pPr marL="314999" lvl="0" indent="-312646" algn="just" rtl="0">
              <a:lnSpc>
                <a:spcPct val="95000"/>
              </a:lnSpc>
              <a:spcBef>
                <a:spcPts val="0"/>
              </a:spcBef>
              <a:spcAft>
                <a:spcPts val="0"/>
              </a:spcAft>
              <a:buSzPts val="1324"/>
              <a:buChar char="●"/>
            </a:pPr>
            <a:r>
              <a:rPr lang="fr" sz="1323"/>
              <a:t>Impossibilité d’utiliser des OS différents sur un même serveur physique (ce qui est possible avec la virtualisation)</a:t>
            </a:r>
            <a:endParaRPr sz="1323"/>
          </a:p>
          <a:p>
            <a:pPr marL="457200" lvl="0" indent="0" algn="just" rtl="0">
              <a:lnSpc>
                <a:spcPct val="95000"/>
              </a:lnSpc>
              <a:spcBef>
                <a:spcPts val="0"/>
              </a:spcBef>
              <a:spcAft>
                <a:spcPts val="0"/>
              </a:spcAft>
              <a:buNone/>
            </a:pPr>
            <a:endParaRPr sz="1323"/>
          </a:p>
          <a:p>
            <a:pPr marL="314999" lvl="0" indent="-312646" algn="just" rtl="0">
              <a:lnSpc>
                <a:spcPct val="95000"/>
              </a:lnSpc>
              <a:spcBef>
                <a:spcPts val="0"/>
              </a:spcBef>
              <a:spcAft>
                <a:spcPts val="0"/>
              </a:spcAft>
              <a:buSzPts val="1324"/>
              <a:buChar char="●"/>
            </a:pPr>
            <a:r>
              <a:rPr lang="fr" sz="1323"/>
              <a:t>Incompatibilité cross-platform (une application conçue pour s'exécuter dans un conteneur sous Windows, elle ne peut pas s'exécuter sous Linux ou vice versa)</a:t>
            </a:r>
            <a:endParaRPr sz="1323"/>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5" name="Image 4">
            <a:extLst>
              <a:ext uri="{FF2B5EF4-FFF2-40B4-BE49-F238E27FC236}">
                <a16:creationId xmlns:a16="http://schemas.microsoft.com/office/drawing/2014/main" id="{3F5858D1-F08F-40E2-B29B-8D7B23694653}"/>
              </a:ext>
            </a:extLst>
          </p:cNvPr>
          <p:cNvPicPr>
            <a:picLocks noChangeAspect="1"/>
          </p:cNvPicPr>
          <p:nvPr/>
        </p:nvPicPr>
        <p:blipFill>
          <a:blip r:embed="rId3"/>
          <a:stretch>
            <a:fillRect/>
          </a:stretch>
        </p:blipFill>
        <p:spPr>
          <a:xfrm>
            <a:off x="4997512" y="959667"/>
            <a:ext cx="4151179" cy="2833735"/>
          </a:xfrm>
          <a:prstGeom prst="rect">
            <a:avLst/>
          </a:prstGeom>
        </p:spPr>
      </p:pic>
      <p:sp>
        <p:nvSpPr>
          <p:cNvPr id="6" name="ZoneTexte 5">
            <a:extLst>
              <a:ext uri="{FF2B5EF4-FFF2-40B4-BE49-F238E27FC236}">
                <a16:creationId xmlns:a16="http://schemas.microsoft.com/office/drawing/2014/main" id="{13635F95-0DE0-41BB-8DCC-E0C2B084FCEE}"/>
              </a:ext>
            </a:extLst>
          </p:cNvPr>
          <p:cNvSpPr txBox="1"/>
          <p:nvPr/>
        </p:nvSpPr>
        <p:spPr>
          <a:xfrm>
            <a:off x="298764" y="280657"/>
            <a:ext cx="3775295" cy="461665"/>
          </a:xfrm>
          <a:prstGeom prst="rect">
            <a:avLst/>
          </a:prstGeom>
          <a:noFill/>
        </p:spPr>
        <p:txBody>
          <a:bodyPr wrap="square" rtlCol="0">
            <a:spAutoFit/>
          </a:bodyPr>
          <a:lstStyle/>
          <a:p>
            <a:r>
              <a:rPr lang="fr-FR" sz="2400" dirty="0"/>
              <a:t>Comment ça marche ?</a:t>
            </a:r>
          </a:p>
        </p:txBody>
      </p:sp>
      <p:sp>
        <p:nvSpPr>
          <p:cNvPr id="7" name="ZoneTexte 6">
            <a:extLst>
              <a:ext uri="{FF2B5EF4-FFF2-40B4-BE49-F238E27FC236}">
                <a16:creationId xmlns:a16="http://schemas.microsoft.com/office/drawing/2014/main" id="{4C45AA83-DBA8-43A7-8E37-315B748E1251}"/>
              </a:ext>
            </a:extLst>
          </p:cNvPr>
          <p:cNvSpPr txBox="1"/>
          <p:nvPr/>
        </p:nvSpPr>
        <p:spPr>
          <a:xfrm>
            <a:off x="298764" y="959667"/>
            <a:ext cx="3847725" cy="2462213"/>
          </a:xfrm>
          <a:prstGeom prst="rect">
            <a:avLst/>
          </a:prstGeom>
          <a:noFill/>
        </p:spPr>
        <p:txBody>
          <a:bodyPr wrap="square" rtlCol="0">
            <a:spAutoFit/>
          </a:bodyPr>
          <a:lstStyle/>
          <a:p>
            <a:r>
              <a:rPr lang="fr-FR" b="0" i="0" dirty="0">
                <a:solidFill>
                  <a:srgbClr val="333333"/>
                </a:solidFill>
                <a:effectLst/>
                <a:latin typeface="AmazonEmberLight"/>
              </a:rPr>
              <a:t>il vous suffit de charger votre code et </a:t>
            </a:r>
            <a:r>
              <a:rPr lang="fr-FR" b="0" i="0" dirty="0" err="1">
                <a:solidFill>
                  <a:srgbClr val="333333"/>
                </a:solidFill>
                <a:effectLst/>
                <a:latin typeface="AmazonEmberLight"/>
              </a:rPr>
              <a:t>Elastic</a:t>
            </a:r>
            <a:r>
              <a:rPr lang="fr-FR" b="0" i="0" dirty="0">
                <a:solidFill>
                  <a:srgbClr val="333333"/>
                </a:solidFill>
                <a:effectLst/>
                <a:latin typeface="AmazonEmberLight"/>
              </a:rPr>
              <a:t> </a:t>
            </a:r>
            <a:r>
              <a:rPr lang="fr-FR" b="0" i="0" dirty="0" err="1">
                <a:solidFill>
                  <a:srgbClr val="333333"/>
                </a:solidFill>
                <a:effectLst/>
                <a:latin typeface="AmazonEmberLight"/>
              </a:rPr>
              <a:t>Beanstalk</a:t>
            </a:r>
            <a:r>
              <a:rPr lang="fr-FR" b="0" i="0" dirty="0">
                <a:solidFill>
                  <a:srgbClr val="333333"/>
                </a:solidFill>
                <a:effectLst/>
                <a:latin typeface="AmazonEmberLight"/>
              </a:rPr>
              <a:t> effectue automatiquement :</a:t>
            </a:r>
          </a:p>
          <a:p>
            <a:endParaRPr lang="fr-FR" dirty="0">
              <a:solidFill>
                <a:srgbClr val="333333"/>
              </a:solidFill>
              <a:latin typeface="AmazonEmberLight"/>
            </a:endParaRPr>
          </a:p>
          <a:p>
            <a:pPr marL="285750" indent="-285750">
              <a:buFontTx/>
              <a:buChar char="-"/>
            </a:pPr>
            <a:r>
              <a:rPr lang="fr-FR" b="0" i="0" dirty="0">
                <a:solidFill>
                  <a:srgbClr val="333333"/>
                </a:solidFill>
                <a:effectLst/>
                <a:latin typeface="AmazonEmberLight"/>
              </a:rPr>
              <a:t>la mise en service des capacités</a:t>
            </a:r>
          </a:p>
          <a:p>
            <a:pPr marL="285750" indent="-285750">
              <a:buFontTx/>
              <a:buChar char="-"/>
            </a:pPr>
            <a:endParaRPr lang="fr-FR" dirty="0">
              <a:solidFill>
                <a:srgbClr val="333333"/>
              </a:solidFill>
              <a:latin typeface="AmazonEmberLight"/>
            </a:endParaRPr>
          </a:p>
          <a:p>
            <a:pPr marL="285750" indent="-285750">
              <a:buFontTx/>
              <a:buChar char="-"/>
            </a:pPr>
            <a:r>
              <a:rPr lang="fr-FR" b="0" i="0" dirty="0">
                <a:solidFill>
                  <a:srgbClr val="333333"/>
                </a:solidFill>
                <a:effectLst/>
                <a:latin typeface="AmazonEmberLight"/>
              </a:rPr>
              <a:t>l'équilibrage de la charge</a:t>
            </a:r>
          </a:p>
          <a:p>
            <a:pPr marL="285750" indent="-285750">
              <a:buFontTx/>
              <a:buChar char="-"/>
            </a:pPr>
            <a:endParaRPr lang="fr-FR" b="0" i="0" dirty="0">
              <a:solidFill>
                <a:srgbClr val="333333"/>
              </a:solidFill>
              <a:effectLst/>
              <a:latin typeface="AmazonEmberLight"/>
            </a:endParaRPr>
          </a:p>
          <a:p>
            <a:r>
              <a:rPr lang="fr-FR" dirty="0">
                <a:solidFill>
                  <a:srgbClr val="333333"/>
                </a:solidFill>
                <a:latin typeface="AmazonEmberLight"/>
              </a:rPr>
              <a:t>-      </a:t>
            </a:r>
            <a:r>
              <a:rPr lang="fr-FR" b="0" i="0" dirty="0">
                <a:solidFill>
                  <a:srgbClr val="333333"/>
                </a:solidFill>
                <a:effectLst/>
                <a:latin typeface="AmazonEmberLight"/>
              </a:rPr>
              <a:t>La scalabilité automatique et la surveillance de l'état de l'application</a:t>
            </a:r>
            <a:endParaRPr lang="fr-FR" dirty="0">
              <a:solidFill>
                <a:srgbClr val="333333"/>
              </a:solidFill>
              <a:latin typeface="AmazonEmberLight"/>
            </a:endParaRPr>
          </a:p>
          <a:p>
            <a:endParaRPr lang="fr-FR" dirty="0">
              <a:solidFill>
                <a:srgbClr val="333333"/>
              </a:solidFill>
              <a:latin typeface="AmazonEmberLight"/>
            </a:endParaRPr>
          </a:p>
          <a:p>
            <a:endParaRPr lang="fr-F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4"/>
          <p:cNvSpPr txBox="1">
            <a:spLocks noGrp="1"/>
          </p:cNvSpPr>
          <p:nvPr>
            <p:ph type="body" idx="1"/>
          </p:nvPr>
        </p:nvSpPr>
        <p:spPr>
          <a:xfrm>
            <a:off x="311700" y="1140737"/>
            <a:ext cx="4377995" cy="3261142"/>
          </a:xfrm>
          <a:prstGeom prst="rect">
            <a:avLst/>
          </a:prstGeom>
        </p:spPr>
        <p:txBody>
          <a:bodyPr spcFirstLastPara="1" wrap="square" lIns="91425" tIns="91425" rIns="91425" bIns="91425" anchor="ctr" anchorCtr="0">
            <a:normAutofit/>
          </a:bodyPr>
          <a:lstStyle/>
          <a:p>
            <a:pPr algn="l">
              <a:buFont typeface="Arial" panose="020B0604020202020204" pitchFamily="34" charset="0"/>
              <a:buChar char="•"/>
            </a:pPr>
            <a:r>
              <a:rPr lang="fr-FR" sz="1400" b="1" i="0" dirty="0">
                <a:solidFill>
                  <a:srgbClr val="333333"/>
                </a:solidFill>
                <a:effectLst/>
                <a:latin typeface="AmazonEmberBold"/>
              </a:rPr>
              <a:t>Coût d'exécution du projet :</a:t>
            </a:r>
            <a:r>
              <a:rPr lang="fr-FR" sz="1400" b="1" i="0" dirty="0">
                <a:solidFill>
                  <a:srgbClr val="333333"/>
                </a:solidFill>
                <a:effectLst/>
                <a:latin typeface="AmazonEmberLight"/>
              </a:rPr>
              <a:t> </a:t>
            </a:r>
          </a:p>
          <a:p>
            <a:pPr marL="114300" indent="0" algn="l">
              <a:buNone/>
            </a:pPr>
            <a:r>
              <a:rPr lang="fr-FR" sz="1400" b="0" i="0" dirty="0">
                <a:solidFill>
                  <a:srgbClr val="333333"/>
                </a:solidFill>
                <a:effectLst/>
                <a:latin typeface="AmazonEmberLight"/>
              </a:rPr>
              <a:t>Il est estimé à 0,04 USD. (</a:t>
            </a:r>
            <a:r>
              <a:rPr lang="fr-FR" sz="1400" b="0" i="0" u="none" strike="noStrike" dirty="0">
                <a:solidFill>
                  <a:srgbClr val="007EB9"/>
                </a:solidFill>
                <a:effectLst/>
                <a:latin typeface="AmazonEmberLight"/>
                <a:hlinkClick r:id="rId3"/>
              </a:rPr>
              <a:t>offre gratuite d’AWS</a:t>
            </a:r>
            <a:r>
              <a:rPr lang="fr-FR" sz="1400" b="0" i="0" u="none" strike="noStrike" dirty="0">
                <a:solidFill>
                  <a:srgbClr val="007EB9"/>
                </a:solidFill>
                <a:effectLst/>
                <a:latin typeface="AmazonEmberLight"/>
              </a:rPr>
              <a:t>)</a:t>
            </a:r>
            <a:r>
              <a:rPr lang="fr-FR" sz="1400" b="0" i="0" dirty="0">
                <a:solidFill>
                  <a:srgbClr val="333333"/>
                </a:solidFill>
                <a:effectLst/>
                <a:latin typeface="AmazonEmberLight"/>
              </a:rPr>
              <a:t> </a:t>
            </a:r>
          </a:p>
          <a:p>
            <a:pPr algn="l">
              <a:buFontTx/>
              <a:buChar char="-"/>
            </a:pPr>
            <a:r>
              <a:rPr lang="fr-FR" sz="1400" b="0" i="0" dirty="0">
                <a:solidFill>
                  <a:srgbClr val="333333"/>
                </a:solidFill>
                <a:effectLst/>
                <a:latin typeface="AmazonEmberLight"/>
              </a:rPr>
              <a:t>vous disposez des configurations recommandées et que toutes les ressources utilisées dans le projet sont supprimées dans l'heure qui suit sa réalisation.</a:t>
            </a:r>
          </a:p>
          <a:p>
            <a:pPr algn="l">
              <a:buFontTx/>
              <a:buChar char="-"/>
            </a:pPr>
            <a:endParaRPr lang="fr-FR" sz="1400" dirty="0">
              <a:solidFill>
                <a:srgbClr val="333333"/>
              </a:solidFill>
              <a:latin typeface="AmazonEmberLight"/>
            </a:endParaRPr>
          </a:p>
          <a:p>
            <a:pPr algn="l">
              <a:buFont typeface="Arial" panose="020B0604020202020204" pitchFamily="34" charset="0"/>
              <a:buChar char="•"/>
            </a:pPr>
            <a:r>
              <a:rPr lang="fr-FR" sz="1400" b="1" i="0" dirty="0">
                <a:solidFill>
                  <a:srgbClr val="333333"/>
                </a:solidFill>
                <a:effectLst/>
                <a:latin typeface="AmazonEmberBold"/>
              </a:rPr>
              <a:t>Estimation des coûts mensuels :</a:t>
            </a:r>
            <a:r>
              <a:rPr lang="fr-FR" sz="1400" b="1" i="0" dirty="0">
                <a:solidFill>
                  <a:srgbClr val="333333"/>
                </a:solidFill>
                <a:effectLst/>
                <a:latin typeface="AmazonEmberLight"/>
              </a:rPr>
              <a:t> </a:t>
            </a:r>
          </a:p>
          <a:p>
            <a:pPr marL="114300" indent="0" algn="l">
              <a:buNone/>
            </a:pPr>
            <a:r>
              <a:rPr lang="fr-FR" sz="1400" b="0" i="0" dirty="0">
                <a:solidFill>
                  <a:srgbClr val="333333"/>
                </a:solidFill>
                <a:effectLst/>
                <a:latin typeface="AmazonEmberLight"/>
              </a:rPr>
              <a:t>         le coût total de lancement d'une application Web          Node.js</a:t>
            </a:r>
            <a:r>
              <a:rPr lang="fr-FR" sz="1400" b="1" dirty="0">
                <a:solidFill>
                  <a:srgbClr val="333333"/>
                </a:solidFill>
                <a:latin typeface="AmazonEmberLight"/>
              </a:rPr>
              <a:t> </a:t>
            </a:r>
            <a:r>
              <a:rPr lang="fr-FR" sz="1400" b="0" i="0" dirty="0">
                <a:solidFill>
                  <a:srgbClr val="333333"/>
                </a:solidFill>
                <a:effectLst/>
                <a:latin typeface="AmazonEmberLight"/>
              </a:rPr>
              <a:t>s'élèvent à 27,42 USD avec une configuration recommandé </a:t>
            </a:r>
            <a:endParaRPr sz="1300" dirty="0">
              <a:solidFill>
                <a:srgbClr val="000000"/>
              </a:solidFill>
            </a:endParaRPr>
          </a:p>
        </p:txBody>
      </p:sp>
      <p:sp>
        <p:nvSpPr>
          <p:cNvPr id="133" name="Google Shape;133;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marR="0" lvl="0" indent="0" algn="l" rtl="0">
              <a:lnSpc>
                <a:spcPct val="100000"/>
              </a:lnSpc>
              <a:spcBef>
                <a:spcPts val="0"/>
              </a:spcBef>
              <a:spcAft>
                <a:spcPts val="0"/>
              </a:spcAft>
              <a:buNone/>
            </a:pPr>
            <a:r>
              <a:rPr lang="fr-FR" dirty="0"/>
              <a:t>Le Prix </a:t>
            </a:r>
            <a:endParaRPr dirty="0"/>
          </a:p>
        </p:txBody>
      </p:sp>
      <p:pic>
        <p:nvPicPr>
          <p:cNvPr id="5" name="Image 4">
            <a:extLst>
              <a:ext uri="{FF2B5EF4-FFF2-40B4-BE49-F238E27FC236}">
                <a16:creationId xmlns:a16="http://schemas.microsoft.com/office/drawing/2014/main" id="{FE4AEB30-D1F2-4BE7-8725-C128E9A5BDF4}"/>
              </a:ext>
            </a:extLst>
          </p:cNvPr>
          <p:cNvPicPr>
            <a:picLocks noChangeAspect="1"/>
          </p:cNvPicPr>
          <p:nvPr/>
        </p:nvPicPr>
        <p:blipFill>
          <a:blip r:embed="rId4"/>
          <a:stretch>
            <a:fillRect/>
          </a:stretch>
        </p:blipFill>
        <p:spPr>
          <a:xfrm>
            <a:off x="4997512" y="959667"/>
            <a:ext cx="4151179" cy="2833735"/>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645</Words>
  <Application>Microsoft Office PowerPoint</Application>
  <PresentationFormat>Affichage à l'écran (16:9)</PresentationFormat>
  <Paragraphs>57</Paragraphs>
  <Slides>9</Slides>
  <Notes>9</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9</vt:i4>
      </vt:variant>
    </vt:vector>
  </HeadingPairs>
  <TitlesOfParts>
    <vt:vector size="14" baseType="lpstr">
      <vt:lpstr>AmazonEmberBold</vt:lpstr>
      <vt:lpstr>AmazonEmberLight</vt:lpstr>
      <vt:lpstr>Arial</vt:lpstr>
      <vt:lpstr>Segoe UI</vt:lpstr>
      <vt:lpstr>Simple Light</vt:lpstr>
      <vt:lpstr>Solutions de déploiement React-Express-Mongodb </vt:lpstr>
      <vt:lpstr>Azure</vt:lpstr>
      <vt:lpstr>Azure</vt:lpstr>
      <vt:lpstr>Azure</vt:lpstr>
      <vt:lpstr>Docker</vt:lpstr>
      <vt:lpstr>Docker - Avantages</vt:lpstr>
      <vt:lpstr>Docker - Inconvénients</vt:lpstr>
      <vt:lpstr>Présentation PowerPoint</vt:lpstr>
      <vt:lpstr>Le Prix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Solutions de déploiement React-Express-Mongodb </dc:title>
  <cp:lastModifiedBy>Mohamedlamine Amimi</cp:lastModifiedBy>
  <cp:revision>1</cp:revision>
  <dcterms:modified xsi:type="dcterms:W3CDTF">2021-03-24T15:30:08Z</dcterms:modified>
</cp:coreProperties>
</file>